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Virtual Hospital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Smart Hospital — On-Premises Deployment with Docker, MySQL &amp;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Graduation-project-ready smart hospital platform</a:t>
            </a:r>
          </a:p>
          <a:p>
            <a:pPr>
              <a:defRPr sz="2000"/>
            </a:pPr>
            <a:r>
              <a:t>Runs entirely in a VM on a laptop (no physical server needed)</a:t>
            </a:r>
          </a:p>
          <a:p>
            <a:pPr>
              <a:defRPr sz="2000"/>
            </a:pPr>
            <a:r>
              <a:t>Containerized services: MySQL 8.0 + Grafana 10</a:t>
            </a:r>
          </a:p>
          <a:p>
            <a:pPr>
              <a:defRPr sz="2000"/>
            </a:pPr>
            <a:r>
              <a:t>Includes schema, seed data, analytics queries, and dashboard provisioning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Virtualization: VMware Workstation Player / VirtualBox</a:t>
            </a:r>
          </a:p>
          <a:p>
            <a:pPr>
              <a:defRPr sz="2000"/>
            </a:pPr>
            <a:r>
              <a:t>Guest OS: Ubuntu Server 22.04 LTS</a:t>
            </a:r>
          </a:p>
          <a:p>
            <a:pPr>
              <a:defRPr sz="2000"/>
            </a:pPr>
            <a:r>
              <a:t>Containerization: Docker + Docker Compose</a:t>
            </a:r>
          </a:p>
          <a:p>
            <a:pPr>
              <a:defRPr sz="2000"/>
            </a:pPr>
            <a:r>
              <a:t>Database: MySQL 8.0</a:t>
            </a:r>
          </a:p>
          <a:p>
            <a:pPr>
              <a:defRPr sz="2000"/>
            </a:pPr>
            <a:r>
              <a:t>Analytics/Visualization: Grafana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docker-compose.yml — orchestrates MySQL + Grafana stack</a:t>
            </a:r>
          </a:p>
          <a:p>
            <a:pPr>
              <a:defRPr sz="2000"/>
            </a:pPr>
            <a:r>
              <a:t>scripts/setup.sh — one-command environment setup</a:t>
            </a:r>
          </a:p>
          <a:p>
            <a:pPr>
              <a:defRPr sz="2000"/>
            </a:pPr>
            <a:r>
              <a:t>sql/schema.sql — relational schema (5 core tables)</a:t>
            </a:r>
          </a:p>
          <a:p>
            <a:pPr>
              <a:defRPr sz="2000"/>
            </a:pPr>
            <a:r>
              <a:t>sql/seed_data.sql — sample operational data</a:t>
            </a:r>
          </a:p>
          <a:p>
            <a:pPr>
              <a:defRPr sz="2000"/>
            </a:pPr>
            <a:r>
              <a:t>sql/queries.sql — 20+ analytical/KPI queries</a:t>
            </a:r>
          </a:p>
          <a:p>
            <a:pPr>
              <a:defRPr sz="2000"/>
            </a:pPr>
            <a:r>
              <a:t>grafana/provisioning + grafana/dashboards — auto-configured dashboard</a:t>
            </a:r>
          </a:p>
          <a:p>
            <a:pPr>
              <a:defRPr sz="2000"/>
            </a:pPr>
            <a:r>
              <a:t>docs/vm-setup.md + docs/architecture.md — deployment and design docs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03120" y="1371600"/>
            <a:ext cx="6400800" cy="4206240"/>
          </a:xfrm>
          <a:prstGeom prst="roundRect">
            <a:avLst/>
          </a:prstGeom>
          <a:solidFill>
            <a:srgbClr val="F2F2F2"/>
          </a:solidFill>
          <a:ln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/>
            </a:pPr>
            <a:r>
              <a:t>Ubuntu VM (8 GB RAM, 4 CPU)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743200"/>
            <a:ext cx="1463040" cy="1005840"/>
          </a:xfrm>
          <a:prstGeom prst="roundRect">
            <a:avLst/>
          </a:prstGeom>
          <a:solidFill>
            <a:srgbClr val="E7F1FF"/>
          </a:solidFill>
          <a:ln>
            <a:solidFill>
              <a:srgbClr val="38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Laptop</a:t>
            </a:r>
          </a:p>
          <a:p>
            <a:r>
              <a:t>Browser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011680"/>
            <a:ext cx="5486400" cy="3108960"/>
          </a:xfrm>
          <a:prstGeom prst="roundRect">
            <a:avLst/>
          </a:prstGeom>
          <a:solidFill>
            <a:srgbClr val="FAFAFA"/>
          </a:solidFill>
          <a:ln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Docker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743200"/>
            <a:ext cx="2103120" cy="1005840"/>
          </a:xfrm>
          <a:prstGeom prst="roundRect">
            <a:avLst/>
          </a:prstGeom>
          <a:solidFill>
            <a:srgbClr val="E9F5E9"/>
          </a:solidFill>
          <a:ln>
            <a:solidFill>
              <a:srgbClr val="38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MySQL 8.0</a:t>
            </a:r>
          </a:p>
          <a:p>
            <a:r>
              <a:t>Port 3306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2743200"/>
            <a:ext cx="2103120" cy="1005840"/>
          </a:xfrm>
          <a:prstGeom prst="roundRect">
            <a:avLst/>
          </a:prstGeom>
          <a:solidFill>
            <a:srgbClr val="E9F5E9"/>
          </a:solidFill>
          <a:ln>
            <a:solidFill>
              <a:srgbClr val="38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Grafana 10</a:t>
            </a:r>
          </a:p>
          <a:p>
            <a:r>
              <a:t>Port 3000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4206240"/>
            <a:ext cx="210312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BF9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mysql_data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4206240"/>
            <a:ext cx="210312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BF9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grafana_data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828800" y="3246120"/>
            <a:ext cx="731520" cy="0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029200" y="3246120"/>
            <a:ext cx="457200" cy="0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977639" y="3749039"/>
            <a:ext cx="0" cy="457201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37960" y="3749039"/>
            <a:ext cx="0" cy="457201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Model (Hospital Domain)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patients — demographics, insurance, registration data</a:t>
            </a:r>
          </a:p>
          <a:p>
            <a:pPr>
              <a:defRPr sz="2000"/>
            </a:pPr>
            <a:r>
              <a:t>doctors — specialization, experience, branch info</a:t>
            </a:r>
          </a:p>
          <a:p>
            <a:pPr>
              <a:defRPr sz="2000"/>
            </a:pPr>
            <a:r>
              <a:t>appointments — patient-doctor scheduling and status</a:t>
            </a:r>
          </a:p>
          <a:p>
            <a:pPr>
              <a:defRPr sz="2000"/>
            </a:pPr>
            <a:r>
              <a:t>treatments — diagnosis, treatment type, medications</a:t>
            </a:r>
          </a:p>
          <a:p>
            <a:pPr>
              <a:defRPr sz="2000"/>
            </a:pPr>
            <a:r>
              <a:t>billing — amount, payment method/status, coverage</a:t>
            </a:r>
          </a:p>
          <a:p>
            <a:pPr>
              <a:defRPr sz="2000"/>
            </a:pPr>
            <a:r>
              <a:t>Foreign-key relationships enforce clinical and financial integrity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Seeded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50 patients</a:t>
            </a:r>
          </a:p>
          <a:p>
            <a:pPr>
              <a:defRPr sz="2000"/>
            </a:pPr>
            <a:r>
              <a:t>10 doctors</a:t>
            </a:r>
          </a:p>
          <a:p>
            <a:pPr>
              <a:defRPr sz="2000"/>
            </a:pPr>
            <a:r>
              <a:t>80 appointments</a:t>
            </a:r>
          </a:p>
          <a:p>
            <a:pPr>
              <a:defRPr sz="2000"/>
            </a:pPr>
            <a:r>
              <a:t>Treatments and billing records for analytics</a:t>
            </a:r>
          </a:p>
          <a:p>
            <a:pPr>
              <a:defRPr sz="2000"/>
            </a:pPr>
            <a:r>
              <a:t>Data spans multiple months to support trend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Analytics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Patient analytics: demographics, age groups, insurance mix</a:t>
            </a:r>
          </a:p>
          <a:p>
            <a:pPr>
              <a:defRPr sz="2000"/>
            </a:pPr>
            <a:r>
              <a:t>Doctor analytics: specialization distribution, appointment load</a:t>
            </a:r>
          </a:p>
          <a:p>
            <a:pPr>
              <a:defRPr sz="2000"/>
            </a:pPr>
            <a:r>
              <a:t>Appointment analytics: trends, status mix, cancellation/no-show rate</a:t>
            </a:r>
          </a:p>
          <a:p>
            <a:pPr>
              <a:defRPr sz="2000"/>
            </a:pPr>
            <a:r>
              <a:t>Treatment analytics: treatment/diagnosis frequency and doctor output</a:t>
            </a:r>
          </a:p>
          <a:p>
            <a:pPr>
              <a:defRPr sz="2000"/>
            </a:pPr>
            <a:r>
              <a:t>Revenue analytics: gross/net revenue, payment behavior, top spenders</a:t>
            </a:r>
          </a:p>
          <a:p>
            <a:pPr>
              <a:defRPr sz="2000"/>
            </a:pPr>
            <a:r>
              <a:t>KPI summary query consolidates major operational metrics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Grafana Dashboard (14 Panels)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KPI cards: total patients, doctors, appointments, treatments, revenue, avg bill</a:t>
            </a:r>
          </a:p>
          <a:p>
            <a:pPr>
              <a:defRPr sz="2000"/>
            </a:pPr>
            <a:r>
              <a:t>Trends: monthly appointments and monthly revenue</a:t>
            </a:r>
          </a:p>
          <a:p>
            <a:pPr>
              <a:defRPr sz="2000"/>
            </a:pPr>
            <a:r>
              <a:t>Operational visuals: status mix and gender distribution</a:t>
            </a:r>
          </a:p>
          <a:p>
            <a:pPr>
              <a:defRPr sz="2000"/>
            </a:pPr>
            <a:r>
              <a:t>Performance: top doctors and specialization-based revenue</a:t>
            </a:r>
          </a:p>
          <a:p>
            <a:pPr>
              <a:defRPr sz="2000"/>
            </a:pPr>
            <a:r>
              <a:t>Clinical insights: treatment type frequency</a:t>
            </a:r>
          </a:p>
          <a:p>
            <a:pPr>
              <a:defRPr sz="2000"/>
            </a:pPr>
            <a:r>
              <a:t>Operations table: recent appointments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Setup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Run: bash scripts/setup.sh</a:t>
            </a:r>
          </a:p>
          <a:p>
            <a:pPr>
              <a:defRPr sz="2000"/>
            </a:pPr>
            <a:r>
              <a:t>Validates Linux environment and installs Docker if missing</a:t>
            </a:r>
          </a:p>
          <a:p>
            <a:pPr>
              <a:defRPr sz="2000"/>
            </a:pPr>
            <a:r>
              <a:t>Starts full stack with Docker Compose</a:t>
            </a:r>
          </a:p>
          <a:p>
            <a:pPr>
              <a:defRPr sz="2000"/>
            </a:pPr>
            <a:r>
              <a:t>Waits for MySQL readiness and exposes access details</a:t>
            </a:r>
          </a:p>
          <a:p>
            <a:pPr>
              <a:defRPr sz="2000"/>
            </a:pPr>
            <a:r>
              <a:t>Provides operational commands for logs, restart, and SQL shell access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Start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Courier New"/>
              </a:defRPr>
            </a:pPr>
            <a:r>
              <a:t>git clone https://github.com/the3miaphysite3engineer3/Virtual-Hospital.git</a:t>
            </a:r>
            <a:br/>
            <a:r>
              <a:t>cd Virtual-Hospital</a:t>
            </a:r>
            <a:br/>
            <a:r>
              <a:t>bash scripts/setup.sh</a:t>
            </a:r>
            <a:br/>
            <a:br/>
            <a:r>
              <a:t>docker compose up -d</a:t>
            </a:r>
            <a:br/>
            <a:r>
              <a:t>docker compose logs -f</a:t>
            </a:r>
            <a:br/>
            <a:r>
              <a:t>docker compose down</a:t>
            </a:r>
            <a:br/>
            <a:br/>
            <a:r>
              <a:t>Grafana: http://&lt;VM-IP&gt;:3000</a:t>
            </a:r>
            <a:br/>
            <a:r>
              <a:t>MySQL shell: docker compose exec mysql mysql -u root -phospital_root_2024 smart_hospital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Operations 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Local on-prem data residency with VM-contained storage</a:t>
            </a:r>
          </a:p>
          <a:p>
            <a:pPr>
              <a:defRPr sz="2000"/>
            </a:pPr>
            <a:r>
              <a:t>Container health checks and restart policies improve reliability</a:t>
            </a:r>
          </a:p>
          <a:p>
            <a:pPr>
              <a:defRPr sz="2000"/>
            </a:pPr>
            <a:r>
              <a:t>Named volumes preserve DB/dashboard state across restarts</a:t>
            </a:r>
          </a:p>
          <a:p>
            <a:pPr>
              <a:defRPr sz="2000"/>
            </a:pPr>
            <a:r>
              <a:t>Hybrid cloud backup option (S3 + cron) for resilience</a:t>
            </a:r>
          </a:p>
          <a:p>
            <a:pPr>
              <a:defRPr sz="2000"/>
            </a:pPr>
            <a:r>
              <a:t>Can be extended with alerts, RBAC, and stricter secret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Value &amp; 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Demonstrates full DevOps + data analytics workflow end-to-end</a:t>
            </a:r>
          </a:p>
          <a:p>
            <a:pPr>
              <a:defRPr sz="2000"/>
            </a:pPr>
            <a:r>
              <a:t>Strong foundation for academic demos and practical deployment labs</a:t>
            </a:r>
          </a:p>
          <a:p>
            <a:pPr>
              <a:defRPr sz="2000"/>
            </a:pPr>
            <a:r>
              <a:t>Future scope: app/API layer, role-based auth, CI/CD automation</a:t>
            </a:r>
          </a:p>
          <a:p>
            <a:pPr>
              <a:defRPr sz="2000"/>
            </a:pPr>
            <a:r>
              <a:t>Future scope: ETL, anomaly detection, and predictive analytics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Cloud Backup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931920" cy="4023360"/>
          </a:xfrm>
          <a:prstGeom prst="roundRect">
            <a:avLst/>
          </a:prstGeom>
          <a:solidFill>
            <a:srgbClr val="F2F2F2"/>
          </a:solidFill>
          <a:ln>
            <a:solidFill>
              <a:srgbClr val="7F7F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/>
            </a:pPr>
            <a:r>
              <a:t>On-Prem VM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468880"/>
            <a:ext cx="3017520" cy="1097280"/>
          </a:xfrm>
          <a:prstGeom prst="roundRect">
            <a:avLst/>
          </a:prstGeom>
          <a:solidFill>
            <a:srgbClr val="E9F5E9"/>
          </a:solidFill>
          <a:ln>
            <a:solidFill>
              <a:srgbClr val="38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MySQL container</a:t>
            </a:r>
          </a:p>
          <a:p>
            <a:r>
              <a:t>Nightly mysqldump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1554480"/>
            <a:ext cx="3657600" cy="4023360"/>
          </a:xfrm>
          <a:prstGeom prst="roundRect">
            <a:avLst/>
          </a:prstGeom>
          <a:solidFill>
            <a:srgbClr val="E2EFDA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/>
            </a:pPr>
            <a:r>
              <a:t>AWS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2286000"/>
            <a:ext cx="2743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S3 Bucket</a:t>
            </a:r>
          </a:p>
          <a:p>
            <a:r>
              <a:t>Encrypted backups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3657600"/>
            <a:ext cx="27432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RDS (optional DR)</a:t>
            </a:r>
          </a:p>
        </p:txBody>
      </p:sp>
      <p:sp>
        <p:nvSpPr>
          <p:cNvPr id="8" name="Cloud 7"/>
          <p:cNvSpPr/>
          <p:nvPr/>
        </p:nvSpPr>
        <p:spPr>
          <a:xfrm>
            <a:off x="4023360" y="2743200"/>
            <a:ext cx="1097280" cy="822960"/>
          </a:xfrm>
          <a:prstGeom prst="cloud">
            <a:avLst/>
          </a:prstGeom>
          <a:solidFill>
            <a:srgbClr val="DDEBF7"/>
          </a:solidFill>
          <a:ln>
            <a:solidFill>
              <a:srgbClr val="38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Internet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23360" y="3017520"/>
            <a:ext cx="0" cy="0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2971800"/>
            <a:ext cx="1097280" cy="0"/>
          </a:xfrm>
          <a:prstGeom prst="line">
            <a:avLst/>
          </a:prstGeom>
          <a:ln w="25400">
            <a:solidFill>
              <a:srgbClr val="3860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49440" y="3200400"/>
            <a:ext cx="0" cy="457200"/>
          </a:xfrm>
          <a:prstGeom prst="line">
            <a:avLst/>
          </a:prstGeom>
          <a:ln w="2540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760720"/>
            <a:ext cx="8046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/>
            </a:pPr>
            <a:r>
              <a:t>Data sovereignty on-prem + offsite resilience via S3 backups and optional RDS disaster recovery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